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7" r:id="rId7"/>
    <p:sldId id="258" r:id="rId8"/>
    <p:sldId id="260" r:id="rId9"/>
    <p:sldId id="261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B2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CCDF6F-7203-0D49-C2D4-7F2314ADC452}" v="1" dt="2025-11-19T10:21:45.2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ZENEUVE Kévin" userId="S::kevin.cazeneuve@ynov.com::14d5309e-6253-45e0-9453-9af7c52f3414" providerId="AD" clId="Web-{2BCCDF6F-7203-0D49-C2D4-7F2314ADC452}"/>
    <pc:docChg chg="modSld">
      <pc:chgData name="CAZENEUVE Kévin" userId="S::kevin.cazeneuve@ynov.com::14d5309e-6253-45e0-9453-9af7c52f3414" providerId="AD" clId="Web-{2BCCDF6F-7203-0D49-C2D4-7F2314ADC452}" dt="2025-11-19T10:21:45.203" v="0" actId="1076"/>
      <pc:docMkLst>
        <pc:docMk/>
      </pc:docMkLst>
      <pc:sldChg chg="modSp">
        <pc:chgData name="CAZENEUVE Kévin" userId="S::kevin.cazeneuve@ynov.com::14d5309e-6253-45e0-9453-9af7c52f3414" providerId="AD" clId="Web-{2BCCDF6F-7203-0D49-C2D4-7F2314ADC452}" dt="2025-11-19T10:21:45.203" v="0" actId="1076"/>
        <pc:sldMkLst>
          <pc:docMk/>
          <pc:sldMk cId="870075720" sldId="256"/>
        </pc:sldMkLst>
        <pc:spChg chg="mod">
          <ac:chgData name="CAZENEUVE Kévin" userId="S::kevin.cazeneuve@ynov.com::14d5309e-6253-45e0-9453-9af7c52f3414" providerId="AD" clId="Web-{2BCCDF6F-7203-0D49-C2D4-7F2314ADC452}" dt="2025-11-19T10:21:45.203" v="0" actId="1076"/>
          <ac:spMkLst>
            <pc:docMk/>
            <pc:sldMk cId="870075720" sldId="256"/>
            <ac:spMk id="5" creationId="{AB44BC99-15A5-E4A1-9967-2D9F51E1BB9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B7BC62-14A3-DCA3-F52E-9984B0870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689802A-B99A-4A29-87C0-D9CB6E71D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DF8235-BA40-7DDC-7EB1-0B9F647AD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3BFC8-2FA2-42C6-BBD7-4CFF0D74A50C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EC2689-C728-34DC-FEA1-D35CA8F9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137DBA-0221-83E6-76B7-F4168C6C0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35F6D-D64D-4C2A-AB3E-2D10DD485D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0294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1D4F2C-FD6B-D414-2839-7489BCF1A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57DF32-E5AB-001C-68F9-812810A58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4B4DD1-11BF-5AAE-8B50-BB8D59DB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3BFC8-2FA2-42C6-BBD7-4CFF0D74A50C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F6EFB1-1921-4F9B-540D-2917D4A9A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116355-FDB0-3FC8-AE03-29BD9E25D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35F6D-D64D-4C2A-AB3E-2D10DD485D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6617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33FAEF-4F21-8693-2B49-D2D94B0E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6C1C06-FDA4-07AE-BA4A-EC9F32527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D5FBEB-37F6-75A8-DEFC-6882C527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3BFC8-2FA2-42C6-BBD7-4CFF0D74A50C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8919E2-A22D-3E4F-6C96-CF303B1D0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055164-9567-08CB-4DC9-2A518F1A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35F6D-D64D-4C2A-AB3E-2D10DD485D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2303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5AF647-26F9-15B6-3DE5-26AC99F2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F83293-C8E9-0B30-DBE9-EC1C91A3A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958786E-EEF5-157E-B33A-8C240F780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303082-3A19-D812-0BBF-76C1A326B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3BFC8-2FA2-42C6-BBD7-4CFF0D74A50C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287388-9FDD-8497-6FB6-6941700ED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5A9A94-836F-80C1-39AF-F68A6C86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35F6D-D64D-4C2A-AB3E-2D10DD485D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7167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728E6C-0AAE-0867-2ED4-AFDA2F2E7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43CE3C-2AA0-D339-BDFB-FAEBB1F72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43BDDD-B588-8639-F1BB-8AFB1CABA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BE326D0-0BA1-4954-25EE-80214F44F9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F93AC63-4E90-4377-FABE-82E872B976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2E0D231-E92E-E52F-1D62-B2564773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3BFC8-2FA2-42C6-BBD7-4CFF0D74A50C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CEE52B7-8027-5B5C-3164-0FEBF6935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BDA6CE2-E293-3E32-79A8-ABC6AE7B3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35F6D-D64D-4C2A-AB3E-2D10DD485D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817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1D498F-7F27-D1E9-4F7E-69C5BDA9A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2391D47-59EA-42E4-7AFC-254125324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3BFC8-2FA2-42C6-BBD7-4CFF0D74A50C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BBD94CB-B535-6B6D-ACB2-172909598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BBE16EC-4CA3-A721-A8E1-B70B0980F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35F6D-D64D-4C2A-AB3E-2D10DD485D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58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6983298-94E0-0A65-94B3-27FC59D2B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3BFC8-2FA2-42C6-BBD7-4CFF0D74A50C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66F444F-0EB1-5D28-FF61-11707DA6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CB4071-DE37-CA79-7A21-216CA74F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35F6D-D64D-4C2A-AB3E-2D10DD485D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657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E2A292-D372-6133-DCC4-475ABCE4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46A1E8-C571-A1E8-5F9E-691773F1A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2791222-38DF-E20D-8990-8984E8691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2A61EE4-B7ED-CB35-CF47-F52BE8BC4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3BFC8-2FA2-42C6-BBD7-4CFF0D74A50C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EE4982-D158-1674-E6CE-556C6E954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28E1F05-9457-3958-D3A4-51E4EBF3E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35F6D-D64D-4C2A-AB3E-2D10DD485D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055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E50DDD-890D-F363-7AA3-DC760CAC1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BBA5347-A899-F96C-EE15-F24625A04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6E56E52-E33E-49F9-9D8D-7A562E7D8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0F1F566-B066-79DA-B479-625D7918C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3BFC8-2FA2-42C6-BBD7-4CFF0D74A50C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575D61-CC2D-7C7A-831E-E80450FF6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21DF61-FF17-7160-96BA-274894D21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35F6D-D64D-4C2A-AB3E-2D10DD485D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3668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DDC1A0-1C80-29D6-00E5-1B505D329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503E567-2961-6D42-5B90-7557A71E4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D08282-6B5C-5E56-6D12-28ECC5D63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3BFC8-2FA2-42C6-BBD7-4CFF0D74A50C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01D328-8D4B-E0A8-FDAD-59AC08D30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7C5ADC-56FD-A9CD-055E-BAEDA1DC9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35F6D-D64D-4C2A-AB3E-2D10DD485D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3860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17A7F78-02EC-478B-14FB-59D6E8E8C7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1DB1CD4-56FA-D7BE-25F5-1C5DAA73A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AC2EF6-CB6C-810A-A768-73D50EA3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3BFC8-2FA2-42C6-BBD7-4CFF0D74A50C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FB330B-B3B5-B17F-1798-C97DF1AFB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5FA858-661E-5E02-5401-C1C4A0A5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35F6D-D64D-4C2A-AB3E-2D10DD485D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615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A7E0B23-5A79-F142-A0F9-B52E7FE35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D7F9DA-193C-0724-3CA9-1FC04ACF9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F2A937-872E-686A-5661-95F1009372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3BFC8-2FA2-42C6-BBD7-4CFF0D74A50C}" type="datetimeFigureOut">
              <a:rPr lang="fr-FR" smtClean="0"/>
              <a:t>19/11/2025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F5CE20-4908-9475-0D52-43BC66EC9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250248-E6C2-D12F-31FF-42497D529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35F6D-D64D-4C2A-AB3E-2D10DD485D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9687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3.png"/><Relationship Id="rId3" Type="http://schemas.openxmlformats.org/officeDocument/2006/relationships/image" Target="../media/image7.svg"/><Relationship Id="rId7" Type="http://schemas.openxmlformats.org/officeDocument/2006/relationships/image" Target="../media/image2.svg"/><Relationship Id="rId12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11.png"/><Relationship Id="rId5" Type="http://schemas.openxmlformats.org/officeDocument/2006/relationships/image" Target="../media/image9.svg"/><Relationship Id="rId10" Type="http://schemas.openxmlformats.org/officeDocument/2006/relationships/image" Target="../media/image10.jpeg"/><Relationship Id="rId4" Type="http://schemas.openxmlformats.org/officeDocument/2006/relationships/image" Target="../media/image8.png"/><Relationship Id="rId9" Type="http://schemas.openxmlformats.org/officeDocument/2006/relationships/image" Target="../media/image5.sv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8.svg"/><Relationship Id="rId3" Type="http://schemas.openxmlformats.org/officeDocument/2006/relationships/image" Target="../media/image7.svg"/><Relationship Id="rId7" Type="http://schemas.openxmlformats.org/officeDocument/2006/relationships/image" Target="../media/image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6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16.svg"/><Relationship Id="rId5" Type="http://schemas.openxmlformats.org/officeDocument/2006/relationships/image" Target="../media/image9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5.sv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6.png"/><Relationship Id="rId3" Type="http://schemas.openxmlformats.org/officeDocument/2006/relationships/image" Target="../media/image7.svg"/><Relationship Id="rId7" Type="http://schemas.openxmlformats.org/officeDocument/2006/relationships/image" Target="../media/image2.svg"/><Relationship Id="rId12" Type="http://schemas.openxmlformats.org/officeDocument/2006/relationships/image" Target="../media/image25.png"/><Relationship Id="rId17" Type="http://schemas.openxmlformats.org/officeDocument/2006/relationships/image" Target="../media/image14.svg"/><Relationship Id="rId2" Type="http://schemas.openxmlformats.org/officeDocument/2006/relationships/image" Target="../media/image6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24.svg"/><Relationship Id="rId5" Type="http://schemas.openxmlformats.org/officeDocument/2006/relationships/image" Target="../media/image9.svg"/><Relationship Id="rId15" Type="http://schemas.openxmlformats.org/officeDocument/2006/relationships/image" Target="../media/image27.png"/><Relationship Id="rId10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5.sv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31.png"/><Relationship Id="rId3" Type="http://schemas.openxmlformats.org/officeDocument/2006/relationships/image" Target="../media/image7.svg"/><Relationship Id="rId7" Type="http://schemas.openxmlformats.org/officeDocument/2006/relationships/image" Target="../media/image2.sv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29.svg"/><Relationship Id="rId5" Type="http://schemas.openxmlformats.org/officeDocument/2006/relationships/image" Target="../media/image9.svg"/><Relationship Id="rId10" Type="http://schemas.openxmlformats.org/officeDocument/2006/relationships/image" Target="../media/image28.png"/><Relationship Id="rId4" Type="http://schemas.openxmlformats.org/officeDocument/2006/relationships/image" Target="../media/image8.png"/><Relationship Id="rId9" Type="http://schemas.openxmlformats.org/officeDocument/2006/relationships/image" Target="../media/image5.svg"/><Relationship Id="rId14" Type="http://schemas.openxmlformats.org/officeDocument/2006/relationships/image" Target="../media/image3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svg"/><Relationship Id="rId7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C5B996D5-EB07-0188-1CAC-5C763D409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468" t="8109" r="-1" b="529"/>
          <a:stretch/>
        </p:blipFill>
        <p:spPr>
          <a:xfrm>
            <a:off x="0" y="-1"/>
            <a:ext cx="2560864" cy="6457417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27DF7DF-FF02-700B-F330-C94F3A91D8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" b="31"/>
          <a:stretch/>
        </p:blipFill>
        <p:spPr>
          <a:xfrm>
            <a:off x="6740324" y="0"/>
            <a:ext cx="5451676" cy="6858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B44BC99-15A5-E4A1-9967-2D9F51E1BB9D}"/>
              </a:ext>
            </a:extLst>
          </p:cNvPr>
          <p:cNvSpPr txBox="1"/>
          <p:nvPr/>
        </p:nvSpPr>
        <p:spPr>
          <a:xfrm>
            <a:off x="697787" y="786880"/>
            <a:ext cx="5275125" cy="15529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fr-FR" sz="4800" b="1" kern="0" dirty="0">
                <a:solidFill>
                  <a:srgbClr val="1D1D1E"/>
                </a:solidFill>
                <a:latin typeface="Montserrat"/>
              </a:rPr>
              <a:t>PROJET</a:t>
            </a:r>
            <a:br>
              <a:rPr lang="fr-FR" sz="4800" b="1" kern="0" dirty="0">
                <a:latin typeface="Montserrat" panose="00000500000000000000" pitchFamily="2" charset="0"/>
              </a:rPr>
            </a:br>
            <a:r>
              <a:rPr lang="fr-FR" sz="3600" b="1" kern="0" dirty="0">
                <a:solidFill>
                  <a:srgbClr val="1D1D1E"/>
                </a:solidFill>
                <a:latin typeface="Montserrat"/>
              </a:rPr>
              <a:t>GROUPIE TRACKER</a:t>
            </a:r>
            <a:endParaRPr lang="fr-FR" sz="4000" b="1" kern="0" dirty="0">
              <a:solidFill>
                <a:srgbClr val="1D1D1E"/>
              </a:solidFill>
              <a:latin typeface="Montserrat" panose="00000500000000000000" pitchFamily="2" charset="0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F647CA0-D312-7D70-F5CC-837189FA57C8}"/>
              </a:ext>
            </a:extLst>
          </p:cNvPr>
          <p:cNvCxnSpPr>
            <a:cxnSpLocks/>
          </p:cNvCxnSpPr>
          <p:nvPr/>
        </p:nvCxnSpPr>
        <p:spPr>
          <a:xfrm>
            <a:off x="427673" y="2696285"/>
            <a:ext cx="2133191" cy="19050"/>
          </a:xfrm>
          <a:prstGeom prst="line">
            <a:avLst/>
          </a:prstGeom>
          <a:ln w="57150">
            <a:solidFill>
              <a:srgbClr val="23B2A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DCE8DC62-DCA9-E86F-CC60-DE4EBEE72FDC}"/>
              </a:ext>
            </a:extLst>
          </p:cNvPr>
          <p:cNvSpPr txBox="1"/>
          <p:nvPr/>
        </p:nvSpPr>
        <p:spPr>
          <a:xfrm rot="16200000">
            <a:off x="8828100" y="3474913"/>
            <a:ext cx="634871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700" b="0" i="0" u="none" strike="noStrike">
                <a:solidFill>
                  <a:srgbClr val="23B2A4"/>
                </a:solidFill>
                <a:effectLst/>
                <a:latin typeface="Montserrat" panose="00000500000000000000" pitchFamily="2" charset="0"/>
              </a:rPr>
              <a:t>ANNÉE 2023 / 2024 – YNOV Campus</a:t>
            </a:r>
            <a:endParaRPr lang="fr-FR" sz="1600">
              <a:solidFill>
                <a:srgbClr val="23B2A4"/>
              </a:solidFill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13C1D2D8-BC19-5598-35C0-70AE8B8E68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48189" y="5919641"/>
            <a:ext cx="1435640" cy="563213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8D4D9224-0512-4738-4E37-04319E565EFA}"/>
              </a:ext>
            </a:extLst>
          </p:cNvPr>
          <p:cNvCxnSpPr>
            <a:cxnSpLocks/>
          </p:cNvCxnSpPr>
          <p:nvPr/>
        </p:nvCxnSpPr>
        <p:spPr>
          <a:xfrm flipV="1">
            <a:off x="456248" y="410743"/>
            <a:ext cx="0" cy="2304592"/>
          </a:xfrm>
          <a:prstGeom prst="line">
            <a:avLst/>
          </a:prstGeom>
          <a:ln w="57150">
            <a:solidFill>
              <a:srgbClr val="23B2A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C2A4AB0F-FA12-EFD2-A2D9-94E009FF4EC7}"/>
              </a:ext>
            </a:extLst>
          </p:cNvPr>
          <p:cNvCxnSpPr>
            <a:cxnSpLocks/>
          </p:cNvCxnSpPr>
          <p:nvPr/>
        </p:nvCxnSpPr>
        <p:spPr>
          <a:xfrm>
            <a:off x="4114695" y="409365"/>
            <a:ext cx="2133191" cy="19050"/>
          </a:xfrm>
          <a:prstGeom prst="line">
            <a:avLst/>
          </a:prstGeom>
          <a:ln w="57150">
            <a:solidFill>
              <a:srgbClr val="23B2A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B7EC8ECC-CCAD-B4E6-E8D2-57197EE3A731}"/>
              </a:ext>
            </a:extLst>
          </p:cNvPr>
          <p:cNvCxnSpPr>
            <a:cxnSpLocks/>
          </p:cNvCxnSpPr>
          <p:nvPr/>
        </p:nvCxnSpPr>
        <p:spPr>
          <a:xfrm flipV="1">
            <a:off x="6247886" y="402955"/>
            <a:ext cx="0" cy="2304592"/>
          </a:xfrm>
          <a:prstGeom prst="line">
            <a:avLst/>
          </a:prstGeom>
          <a:ln w="57150">
            <a:solidFill>
              <a:srgbClr val="23B2A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Parallélogramme 20">
            <a:extLst>
              <a:ext uri="{FF2B5EF4-FFF2-40B4-BE49-F238E27FC236}">
                <a16:creationId xmlns:a16="http://schemas.microsoft.com/office/drawing/2014/main" id="{6E7A5757-E50C-5EB1-079F-509221969870}"/>
              </a:ext>
            </a:extLst>
          </p:cNvPr>
          <p:cNvSpPr>
            <a:spLocks/>
          </p:cNvSpPr>
          <p:nvPr/>
        </p:nvSpPr>
        <p:spPr>
          <a:xfrm>
            <a:off x="1206728" y="3347251"/>
            <a:ext cx="4403800" cy="528145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23B2A4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dirty="0">
                <a:solidFill>
                  <a:srgbClr val="1D1D1E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OBJECTIFS</a:t>
            </a:r>
          </a:p>
        </p:txBody>
      </p:sp>
      <p:sp>
        <p:nvSpPr>
          <p:cNvPr id="22" name="Parallélogramme 21">
            <a:extLst>
              <a:ext uri="{FF2B5EF4-FFF2-40B4-BE49-F238E27FC236}">
                <a16:creationId xmlns:a16="http://schemas.microsoft.com/office/drawing/2014/main" id="{AB95E1AC-FFEA-CDF4-519A-9F17CC09981D}"/>
              </a:ext>
            </a:extLst>
          </p:cNvPr>
          <p:cNvSpPr>
            <a:spLocks/>
          </p:cNvSpPr>
          <p:nvPr/>
        </p:nvSpPr>
        <p:spPr>
          <a:xfrm>
            <a:off x="1206727" y="4057443"/>
            <a:ext cx="4427919" cy="528145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23B2A4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dirty="0">
                <a:solidFill>
                  <a:srgbClr val="1D1D1E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DÉROULEMENT DU MODULE</a:t>
            </a:r>
          </a:p>
        </p:txBody>
      </p:sp>
      <p:sp>
        <p:nvSpPr>
          <p:cNvPr id="23" name="Parallélogramme 22">
            <a:extLst>
              <a:ext uri="{FF2B5EF4-FFF2-40B4-BE49-F238E27FC236}">
                <a16:creationId xmlns:a16="http://schemas.microsoft.com/office/drawing/2014/main" id="{07F9DBA8-68E8-8EB5-F4FB-D086BA4731C0}"/>
              </a:ext>
            </a:extLst>
          </p:cNvPr>
          <p:cNvSpPr>
            <a:spLocks/>
          </p:cNvSpPr>
          <p:nvPr/>
        </p:nvSpPr>
        <p:spPr>
          <a:xfrm>
            <a:off x="1194668" y="4767635"/>
            <a:ext cx="4427919" cy="528145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23B2A4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dirty="0">
                <a:solidFill>
                  <a:srgbClr val="1D1D1E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MODALITÉS D’ÉVALUATION</a:t>
            </a:r>
          </a:p>
        </p:txBody>
      </p:sp>
    </p:spTree>
    <p:extLst>
      <p:ext uri="{BB962C8B-B14F-4D97-AF65-F5344CB8AC3E}">
        <p14:creationId xmlns:p14="http://schemas.microsoft.com/office/powerpoint/2010/main" val="87007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3118A9A4-57FD-797B-172C-46DE0B4D6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6818" y="1403008"/>
            <a:ext cx="2165182" cy="4051983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A52BD2E9-BDDB-3098-E82E-88F1D7DD63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8873"/>
          <a:stretch/>
        </p:blipFill>
        <p:spPr>
          <a:xfrm>
            <a:off x="12561" y="1643026"/>
            <a:ext cx="2252592" cy="3571945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46BADD78-6DE2-DC83-3952-5EE93310034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2441" b="530"/>
          <a:stretch/>
        </p:blipFill>
        <p:spPr>
          <a:xfrm>
            <a:off x="3834327" y="1"/>
            <a:ext cx="4611441" cy="6858000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148D74F3-7D6B-2E98-836C-2F21475636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69467" y="6010942"/>
            <a:ext cx="1541159" cy="604609"/>
          </a:xfrm>
          <a:prstGeom prst="rect">
            <a:avLst/>
          </a:prstGeom>
        </p:spPr>
      </p:pic>
      <p:pic>
        <p:nvPicPr>
          <p:cNvPr id="2050" name="Picture 2" descr="Learning Golang in 24 hours | Kislay Verma">
            <a:extLst>
              <a:ext uri="{FF2B5EF4-FFF2-40B4-BE49-F238E27FC236}">
                <a16:creationId xmlns:a16="http://schemas.microsoft.com/office/drawing/2014/main" id="{8082A297-33BD-DA6F-84F2-2A835EAA0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7" t="15824" r="19177" b="16263"/>
          <a:stretch/>
        </p:blipFill>
        <p:spPr bwMode="auto">
          <a:xfrm rot="426453">
            <a:off x="2269142" y="3814412"/>
            <a:ext cx="396992" cy="53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7ABC9F5-72D4-BCBD-3A3C-F8D4CCB82F96}"/>
              </a:ext>
            </a:extLst>
          </p:cNvPr>
          <p:cNvSpPr/>
          <p:nvPr/>
        </p:nvSpPr>
        <p:spPr>
          <a:xfrm>
            <a:off x="520861" y="358815"/>
            <a:ext cx="6234502" cy="717631"/>
          </a:xfrm>
          <a:prstGeom prst="rect">
            <a:avLst/>
          </a:prstGeom>
          <a:solidFill>
            <a:srgbClr val="1D1D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i="1" kern="0" dirty="0">
                <a:solidFill>
                  <a:schemeClr val="bg1"/>
                </a:solidFill>
                <a:latin typeface="Montserrat"/>
              </a:rPr>
              <a:t>OBJECTIFS &amp; CONSIGNES</a:t>
            </a:r>
            <a:endParaRPr lang="fr-FR" sz="3200" b="1" i="1" kern="0" dirty="0">
              <a:solidFill>
                <a:schemeClr val="bg1"/>
              </a:solidFill>
            </a:endParaRPr>
          </a:p>
        </p:txBody>
      </p:sp>
      <p:sp>
        <p:nvSpPr>
          <p:cNvPr id="16" name="Parallélogramme 15">
            <a:extLst>
              <a:ext uri="{FF2B5EF4-FFF2-40B4-BE49-F238E27FC236}">
                <a16:creationId xmlns:a16="http://schemas.microsoft.com/office/drawing/2014/main" id="{A20852CD-7164-892C-2176-8E20B2EEEBDE}"/>
              </a:ext>
            </a:extLst>
          </p:cNvPr>
          <p:cNvSpPr>
            <a:spLocks/>
          </p:cNvSpPr>
          <p:nvPr/>
        </p:nvSpPr>
        <p:spPr>
          <a:xfrm>
            <a:off x="2056670" y="1027942"/>
            <a:ext cx="4428163" cy="373530"/>
          </a:xfrm>
          <a:prstGeom prst="parallelogram">
            <a:avLst>
              <a:gd name="adj" fmla="val 39938"/>
            </a:avLst>
          </a:prstGeom>
          <a:solidFill>
            <a:srgbClr val="23B2A4"/>
          </a:solidFill>
          <a:ln w="38100">
            <a:solidFill>
              <a:srgbClr val="23B2A4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i="1" kern="0" dirty="0">
                <a:solidFill>
                  <a:schemeClr val="bg1"/>
                </a:solidFill>
                <a:latin typeface="Montserrat"/>
              </a:rPr>
              <a:t>PROJET GROUPIE TRACKER</a:t>
            </a:r>
            <a:endParaRPr lang="fr-FR" b="1" i="1" kern="0" dirty="0">
              <a:solidFill>
                <a:schemeClr val="bg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8E5CFF9-5990-CCD4-87FC-8AFE3ACD6E3A}"/>
              </a:ext>
            </a:extLst>
          </p:cNvPr>
          <p:cNvSpPr txBox="1"/>
          <p:nvPr/>
        </p:nvSpPr>
        <p:spPr>
          <a:xfrm>
            <a:off x="4487119" y="2646004"/>
            <a:ext cx="3305853" cy="646331"/>
          </a:xfrm>
          <a:prstGeom prst="rect">
            <a:avLst/>
          </a:prstGeom>
          <a:solidFill>
            <a:schemeClr val="bg1"/>
          </a:solidFill>
          <a:ln w="19050">
            <a:solidFill>
              <a:srgbClr val="23B2A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Montserrat" panose="00000500000000000000" pitchFamily="2" charset="0"/>
              </a:rPr>
              <a:t>Web-app qui affiche des</a:t>
            </a:r>
          </a:p>
          <a:p>
            <a:pPr algn="ctr"/>
            <a:r>
              <a:rPr lang="fr-FR" dirty="0">
                <a:latin typeface="Montserrat" panose="00000500000000000000" pitchFamily="2" charset="0"/>
              </a:rPr>
              <a:t>données d’API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879BE0E-D590-3C24-4E4E-27246731B479}"/>
              </a:ext>
            </a:extLst>
          </p:cNvPr>
          <p:cNvSpPr txBox="1"/>
          <p:nvPr/>
        </p:nvSpPr>
        <p:spPr>
          <a:xfrm>
            <a:off x="3974841" y="1967946"/>
            <a:ext cx="4242318" cy="369332"/>
          </a:xfrm>
          <a:prstGeom prst="rect">
            <a:avLst/>
          </a:prstGeom>
          <a:solidFill>
            <a:srgbClr val="23B2A4"/>
          </a:solidFill>
          <a:ln w="19050">
            <a:solidFill>
              <a:srgbClr val="23B2A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Montserrat"/>
              </a:rPr>
              <a:t>LE PROJET GROUPIE TRACKER…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26B00F8-8E21-0A53-B86E-BEFEB3999744}"/>
              </a:ext>
            </a:extLst>
          </p:cNvPr>
          <p:cNvSpPr txBox="1"/>
          <p:nvPr/>
        </p:nvSpPr>
        <p:spPr>
          <a:xfrm>
            <a:off x="2217664" y="4124673"/>
            <a:ext cx="2925731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23B2A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Montserrat" panose="00000500000000000000" pitchFamily="2" charset="0"/>
              </a:rPr>
              <a:t>100% en </a:t>
            </a:r>
            <a:r>
              <a:rPr lang="fr-FR" dirty="0" err="1">
                <a:latin typeface="Montserrat" panose="00000500000000000000" pitchFamily="2" charset="0"/>
              </a:rPr>
              <a:t>Golang</a:t>
            </a:r>
            <a:endParaRPr lang="fr-FR" dirty="0">
              <a:latin typeface="Montserrat" panose="00000500000000000000" pitchFamily="2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4547DCDE-035A-C218-15B8-FE817D439D38}"/>
              </a:ext>
            </a:extLst>
          </p:cNvPr>
          <p:cNvSpPr txBox="1"/>
          <p:nvPr/>
        </p:nvSpPr>
        <p:spPr>
          <a:xfrm>
            <a:off x="668988" y="2814372"/>
            <a:ext cx="2925731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23B2A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Montserrat" panose="00000500000000000000" pitchFamily="2" charset="0"/>
              </a:rPr>
              <a:t>Groupes de 2 à 3 pers.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44BD079-B757-84BE-A496-619BF1FA2056}"/>
              </a:ext>
            </a:extLst>
          </p:cNvPr>
          <p:cNvSpPr txBox="1"/>
          <p:nvPr/>
        </p:nvSpPr>
        <p:spPr>
          <a:xfrm>
            <a:off x="6652982" y="4120557"/>
            <a:ext cx="2925731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23B2A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Montserrat" panose="00000500000000000000" pitchFamily="2" charset="0"/>
              </a:rPr>
              <a:t>9 séances de travail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C9BFE67-0644-1A09-36D9-2C267530C7F1}"/>
              </a:ext>
            </a:extLst>
          </p:cNvPr>
          <p:cNvSpPr txBox="1"/>
          <p:nvPr/>
        </p:nvSpPr>
        <p:spPr>
          <a:xfrm>
            <a:off x="8597281" y="2814372"/>
            <a:ext cx="2925731" cy="369332"/>
          </a:xfrm>
          <a:prstGeom prst="rect">
            <a:avLst/>
          </a:prstGeom>
          <a:solidFill>
            <a:schemeClr val="bg1"/>
          </a:solidFill>
          <a:ln w="19050">
            <a:solidFill>
              <a:srgbClr val="23B2A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Montserrat" panose="00000500000000000000" pitchFamily="2" charset="0"/>
              </a:rPr>
              <a:t>Rendu sur </a:t>
            </a:r>
            <a:r>
              <a:rPr lang="fr-FR" dirty="0" err="1">
                <a:latin typeface="Montserrat" panose="00000500000000000000" pitchFamily="2" charset="0"/>
              </a:rPr>
              <a:t>Gitea</a:t>
            </a:r>
            <a:endParaRPr lang="fr-FR" dirty="0">
              <a:latin typeface="Montserrat" panose="00000500000000000000" pitchFamily="2" charset="0"/>
            </a:endParaRPr>
          </a:p>
        </p:txBody>
      </p:sp>
      <p:pic>
        <p:nvPicPr>
          <p:cNvPr id="31" name="Picture 12" descr="Customizing Gitea - Docs">
            <a:extLst>
              <a:ext uri="{FF2B5EF4-FFF2-40B4-BE49-F238E27FC236}">
                <a16:creationId xmlns:a16="http://schemas.microsoft.com/office/drawing/2014/main" id="{53DAE690-1B66-14D7-A95C-E4E813E9A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62000">
            <a:off x="11149625" y="2547228"/>
            <a:ext cx="538290" cy="538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8" descr="File - Free icons">
            <a:extLst>
              <a:ext uri="{FF2B5EF4-FFF2-40B4-BE49-F238E27FC236}">
                <a16:creationId xmlns:a16="http://schemas.microsoft.com/office/drawing/2014/main" id="{3A85AD80-0B82-ADE0-E416-2BB2FB003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23772">
            <a:off x="9329883" y="4284889"/>
            <a:ext cx="294954" cy="294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Guitare avec un remplissage uni">
            <a:extLst>
              <a:ext uri="{FF2B5EF4-FFF2-40B4-BE49-F238E27FC236}">
                <a16:creationId xmlns:a16="http://schemas.microsoft.com/office/drawing/2014/main" id="{70271B5A-C247-1DB8-8E9C-2460E50AC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 rot="221432">
            <a:off x="7314892" y="2923490"/>
            <a:ext cx="610576" cy="61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348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3118A9A4-57FD-797B-172C-46DE0B4D6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6818" y="1403008"/>
            <a:ext cx="2165182" cy="4051983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A52BD2E9-BDDB-3098-E82E-88F1D7DD63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8873"/>
          <a:stretch/>
        </p:blipFill>
        <p:spPr>
          <a:xfrm>
            <a:off x="12561" y="1643026"/>
            <a:ext cx="2252592" cy="3571945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46BADD78-6DE2-DC83-3952-5EE93310034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2441" b="530"/>
          <a:stretch/>
        </p:blipFill>
        <p:spPr>
          <a:xfrm>
            <a:off x="3834327" y="1"/>
            <a:ext cx="4611441" cy="6858000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148D74F3-7D6B-2E98-836C-2F21475636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69467" y="6010942"/>
            <a:ext cx="1541159" cy="60460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7ABC9F5-72D4-BCBD-3A3C-F8D4CCB82F96}"/>
              </a:ext>
            </a:extLst>
          </p:cNvPr>
          <p:cNvSpPr/>
          <p:nvPr/>
        </p:nvSpPr>
        <p:spPr>
          <a:xfrm>
            <a:off x="520861" y="358815"/>
            <a:ext cx="6234502" cy="717631"/>
          </a:xfrm>
          <a:prstGeom prst="rect">
            <a:avLst/>
          </a:prstGeom>
          <a:solidFill>
            <a:srgbClr val="1D1D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i="1" kern="0">
                <a:solidFill>
                  <a:schemeClr val="bg1"/>
                </a:solidFill>
                <a:latin typeface="Montserrat"/>
              </a:rPr>
              <a:t>OBJECTIFS &amp; CONSIGNES</a:t>
            </a:r>
            <a:endParaRPr lang="fr-FR" sz="3200" b="1" i="1" kern="0">
              <a:solidFill>
                <a:schemeClr val="bg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879BE0E-D590-3C24-4E4E-27246731B479}"/>
              </a:ext>
            </a:extLst>
          </p:cNvPr>
          <p:cNvSpPr txBox="1"/>
          <p:nvPr/>
        </p:nvSpPr>
        <p:spPr>
          <a:xfrm>
            <a:off x="1305319" y="2101337"/>
            <a:ext cx="3717764" cy="369332"/>
          </a:xfrm>
          <a:prstGeom prst="rect">
            <a:avLst/>
          </a:prstGeom>
          <a:solidFill>
            <a:srgbClr val="23B2A4"/>
          </a:solidFill>
          <a:ln w="19050">
            <a:solidFill>
              <a:srgbClr val="23B2A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>
                <a:solidFill>
                  <a:schemeClr val="bg1"/>
                </a:solidFill>
                <a:latin typeface="Montserrat" panose="00000500000000000000" pitchFamily="2" charset="0"/>
              </a:rPr>
              <a:t>VOTRE RENDU SUR GITEA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3AD915E-EF70-DA24-12A4-331C035987CC}"/>
              </a:ext>
            </a:extLst>
          </p:cNvPr>
          <p:cNvSpPr txBox="1"/>
          <p:nvPr/>
        </p:nvSpPr>
        <p:spPr>
          <a:xfrm>
            <a:off x="749784" y="2758299"/>
            <a:ext cx="4828835" cy="2696692"/>
          </a:xfrm>
          <a:prstGeom prst="rect">
            <a:avLst/>
          </a:prstGeom>
          <a:solidFill>
            <a:schemeClr val="bg1"/>
          </a:solidFill>
          <a:ln w="19050">
            <a:solidFill>
              <a:srgbClr val="23B2A4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fr-FR">
              <a:latin typeface="Montserrat" panose="00000500000000000000" pitchFamily="2" charset="0"/>
            </a:endParaRPr>
          </a:p>
        </p:txBody>
      </p:sp>
      <p:pic>
        <p:nvPicPr>
          <p:cNvPr id="4" name="Graphique 3" descr="Dossier avec un remplissage uni">
            <a:extLst>
              <a:ext uri="{FF2B5EF4-FFF2-40B4-BE49-F238E27FC236}">
                <a16:creationId xmlns:a16="http://schemas.microsoft.com/office/drawing/2014/main" id="{014663C5-D3F2-450D-CD00-11BA771FDE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24581" y="3198272"/>
            <a:ext cx="253916" cy="25391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7FAB41B-1399-4A6B-9759-9C43058A7C98}"/>
              </a:ext>
            </a:extLst>
          </p:cNvPr>
          <p:cNvSpPr txBox="1"/>
          <p:nvPr/>
        </p:nvSpPr>
        <p:spPr>
          <a:xfrm>
            <a:off x="749784" y="2761170"/>
            <a:ext cx="2252592" cy="253916"/>
          </a:xfrm>
          <a:prstGeom prst="rect">
            <a:avLst/>
          </a:prstGeom>
          <a:solidFill>
            <a:schemeClr val="bg1"/>
          </a:solidFill>
          <a:ln w="12700">
            <a:solidFill>
              <a:srgbClr val="23B2A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Montserrat" panose="00000500000000000000" pitchFamily="2" charset="0"/>
              </a:rPr>
              <a:t>REPOSITORY : groupie-tracker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539C452-D24E-4CA2-402F-4D3076F47BBE}"/>
              </a:ext>
            </a:extLst>
          </p:cNvPr>
          <p:cNvSpPr txBox="1"/>
          <p:nvPr/>
        </p:nvSpPr>
        <p:spPr>
          <a:xfrm>
            <a:off x="1371676" y="3195763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>
                <a:latin typeface="Montserrat" panose="00000500000000000000" pitchFamily="2" charset="0"/>
              </a:rPr>
              <a:t>Projet</a:t>
            </a:r>
          </a:p>
        </p:txBody>
      </p:sp>
      <p:pic>
        <p:nvPicPr>
          <p:cNvPr id="17" name="Graphique 16" descr="Document avec un remplissage uni">
            <a:extLst>
              <a:ext uri="{FF2B5EF4-FFF2-40B4-BE49-F238E27FC236}">
                <a16:creationId xmlns:a16="http://schemas.microsoft.com/office/drawing/2014/main" id="{46B2CE22-9EC2-692A-E95D-31C031E078A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1401" y="3479002"/>
            <a:ext cx="253916" cy="253916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A89B5422-B196-74C8-8EFA-85DB3FFE2F29}"/>
              </a:ext>
            </a:extLst>
          </p:cNvPr>
          <p:cNvSpPr txBox="1"/>
          <p:nvPr/>
        </p:nvSpPr>
        <p:spPr>
          <a:xfrm>
            <a:off x="1358138" y="3453164"/>
            <a:ext cx="11849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>
                <a:latin typeface="Montserrat" panose="00000500000000000000" pitchFamily="2" charset="0"/>
              </a:rPr>
              <a:t>README.md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4FDC569-9E98-147B-F01F-D2AB6F623F94}"/>
              </a:ext>
            </a:extLst>
          </p:cNvPr>
          <p:cNvSpPr txBox="1"/>
          <p:nvPr/>
        </p:nvSpPr>
        <p:spPr>
          <a:xfrm>
            <a:off x="7071360" y="2101337"/>
            <a:ext cx="3912880" cy="369332"/>
          </a:xfrm>
          <a:prstGeom prst="rect">
            <a:avLst/>
          </a:prstGeom>
          <a:solidFill>
            <a:srgbClr val="23B2A4"/>
          </a:solidFill>
          <a:ln w="19050">
            <a:solidFill>
              <a:srgbClr val="23B2A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>
                <a:solidFill>
                  <a:schemeClr val="bg1"/>
                </a:solidFill>
                <a:latin typeface="Montserrat" panose="00000500000000000000" pitchFamily="2" charset="0"/>
              </a:rPr>
              <a:t>RENDU DE PRÉSENTATION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6BC6EBED-3901-2582-4CAF-77C5CBEE62BD}"/>
              </a:ext>
            </a:extLst>
          </p:cNvPr>
          <p:cNvSpPr txBox="1"/>
          <p:nvPr/>
        </p:nvSpPr>
        <p:spPr>
          <a:xfrm>
            <a:off x="6613383" y="2758299"/>
            <a:ext cx="4828835" cy="2696692"/>
          </a:xfrm>
          <a:prstGeom prst="rect">
            <a:avLst/>
          </a:prstGeom>
          <a:solidFill>
            <a:schemeClr val="bg1"/>
          </a:solidFill>
          <a:ln w="19050">
            <a:solidFill>
              <a:srgbClr val="23B2A4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fr-FR">
              <a:latin typeface="Montserrat" panose="00000500000000000000" pitchFamily="2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65866B2-2D49-B4DD-03F8-4C8EAE260D6C}"/>
              </a:ext>
            </a:extLst>
          </p:cNvPr>
          <p:cNvSpPr txBox="1"/>
          <p:nvPr/>
        </p:nvSpPr>
        <p:spPr>
          <a:xfrm>
            <a:off x="6613383" y="2761170"/>
            <a:ext cx="1219977" cy="253916"/>
          </a:xfrm>
          <a:prstGeom prst="rect">
            <a:avLst/>
          </a:prstGeom>
          <a:solidFill>
            <a:schemeClr val="bg1"/>
          </a:solidFill>
          <a:ln w="12700">
            <a:solidFill>
              <a:srgbClr val="23B2A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050">
                <a:latin typeface="Montserrat" panose="00000500000000000000" pitchFamily="2" charset="0"/>
              </a:rPr>
              <a:t>SUR TEAMS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B9AE9D3-D826-09E5-B230-0893358D790A}"/>
              </a:ext>
            </a:extLst>
          </p:cNvPr>
          <p:cNvSpPr txBox="1"/>
          <p:nvPr/>
        </p:nvSpPr>
        <p:spPr>
          <a:xfrm>
            <a:off x="1653540" y="5327891"/>
            <a:ext cx="2697672" cy="261610"/>
          </a:xfrm>
          <a:prstGeom prst="rect">
            <a:avLst/>
          </a:prstGeom>
          <a:solidFill>
            <a:srgbClr val="23B2A4"/>
          </a:solidFill>
          <a:ln w="19050">
            <a:solidFill>
              <a:srgbClr val="23B2A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Montserrat" panose="00000500000000000000" pitchFamily="2" charset="0"/>
              </a:rPr>
              <a:t>ÉCHÉANCE LE 25/02/2024 – 23h59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176F156-0444-2522-250B-377317C11145}"/>
              </a:ext>
            </a:extLst>
          </p:cNvPr>
          <p:cNvSpPr txBox="1"/>
          <p:nvPr/>
        </p:nvSpPr>
        <p:spPr>
          <a:xfrm>
            <a:off x="7010400" y="5332379"/>
            <a:ext cx="4034800" cy="261610"/>
          </a:xfrm>
          <a:prstGeom prst="rect">
            <a:avLst/>
          </a:prstGeom>
          <a:solidFill>
            <a:srgbClr val="23B2A4"/>
          </a:solidFill>
          <a:ln w="19050">
            <a:solidFill>
              <a:srgbClr val="23B2A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Montserrat" panose="00000500000000000000" pitchFamily="2" charset="0"/>
              </a:rPr>
              <a:t>ÉCHÉANCE LE __/__/2024 – HEURE DE VOTRE ORAL</a:t>
            </a:r>
          </a:p>
        </p:txBody>
      </p:sp>
      <p:pic>
        <p:nvPicPr>
          <p:cNvPr id="30" name="Graphique 29" descr="Utilisateurs avec un remplissage uni">
            <a:extLst>
              <a:ext uri="{FF2B5EF4-FFF2-40B4-BE49-F238E27FC236}">
                <a16:creationId xmlns:a16="http://schemas.microsoft.com/office/drawing/2014/main" id="{A0888C2F-84B1-C702-B8E8-F40F5BFF31C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7069512" y="3231519"/>
            <a:ext cx="253916" cy="253916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81760961-62E9-EE4E-84E3-61BF780D783A}"/>
              </a:ext>
            </a:extLst>
          </p:cNvPr>
          <p:cNvSpPr txBox="1"/>
          <p:nvPr/>
        </p:nvSpPr>
        <p:spPr>
          <a:xfrm>
            <a:off x="7316607" y="3229010"/>
            <a:ext cx="18582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>
                <a:latin typeface="Montserrat" panose="00000500000000000000" pitchFamily="2" charset="0"/>
              </a:rPr>
              <a:t>Un rendu par groupe</a:t>
            </a:r>
          </a:p>
        </p:txBody>
      </p:sp>
      <p:pic>
        <p:nvPicPr>
          <p:cNvPr id="32" name="Graphique 31" descr="Carnet d'adresses avec un remplissage uni">
            <a:extLst>
              <a:ext uri="{FF2B5EF4-FFF2-40B4-BE49-F238E27FC236}">
                <a16:creationId xmlns:a16="http://schemas.microsoft.com/office/drawing/2014/main" id="{2050C004-1C2A-AFC0-15F9-39D391C95F4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7069512" y="3573272"/>
            <a:ext cx="253916" cy="253916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0811E08F-BA94-C8D4-9D3E-0EC08A35EA96}"/>
              </a:ext>
            </a:extLst>
          </p:cNvPr>
          <p:cNvSpPr txBox="1"/>
          <p:nvPr/>
        </p:nvSpPr>
        <p:spPr>
          <a:xfrm>
            <a:off x="7316607" y="3570763"/>
            <a:ext cx="2662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>
                <a:latin typeface="Montserrat" panose="00000500000000000000" pitchFamily="2" charset="0"/>
              </a:rPr>
              <a:t>Actualisez le Excel des groupes !</a:t>
            </a:r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6FADBF11-F09D-F76A-4599-2598B20DCD69}"/>
              </a:ext>
            </a:extLst>
          </p:cNvPr>
          <p:cNvSpPr>
            <a:spLocks/>
          </p:cNvSpPr>
          <p:nvPr/>
        </p:nvSpPr>
        <p:spPr>
          <a:xfrm>
            <a:off x="2056670" y="1027942"/>
            <a:ext cx="4428163" cy="373530"/>
          </a:xfrm>
          <a:prstGeom prst="parallelogram">
            <a:avLst>
              <a:gd name="adj" fmla="val 39938"/>
            </a:avLst>
          </a:prstGeom>
          <a:solidFill>
            <a:srgbClr val="23B2A4"/>
          </a:solidFill>
          <a:ln w="38100">
            <a:solidFill>
              <a:srgbClr val="23B2A4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i="1" kern="0" dirty="0">
                <a:solidFill>
                  <a:schemeClr val="bg1"/>
                </a:solidFill>
                <a:latin typeface="Montserrat"/>
              </a:rPr>
              <a:t>PROJET GROUPIE TRACKER</a:t>
            </a:r>
            <a:endParaRPr lang="fr-FR" b="1" i="1" kern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866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 9">
            <a:extLst>
              <a:ext uri="{FF2B5EF4-FFF2-40B4-BE49-F238E27FC236}">
                <a16:creationId xmlns:a16="http://schemas.microsoft.com/office/drawing/2014/main" id="{DB52D8C6-FB34-B6CC-BB62-DC9F86265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6818" y="1403008"/>
            <a:ext cx="2165182" cy="4051983"/>
          </a:xfrm>
          <a:prstGeom prst="rect">
            <a:avLst/>
          </a:prstGeom>
        </p:spPr>
      </p:pic>
      <p:pic>
        <p:nvPicPr>
          <p:cNvPr id="25" name="Graphique 24">
            <a:extLst>
              <a:ext uri="{FF2B5EF4-FFF2-40B4-BE49-F238E27FC236}">
                <a16:creationId xmlns:a16="http://schemas.microsoft.com/office/drawing/2014/main" id="{9AB08D45-7FF5-3164-4E45-7F57526D243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8873"/>
          <a:stretch/>
        </p:blipFill>
        <p:spPr>
          <a:xfrm>
            <a:off x="12561" y="1643026"/>
            <a:ext cx="2252592" cy="3571945"/>
          </a:xfrm>
          <a:prstGeom prst="rect">
            <a:avLst/>
          </a:prstGeom>
        </p:spPr>
      </p:pic>
      <p:pic>
        <p:nvPicPr>
          <p:cNvPr id="26" name="Graphique 25">
            <a:extLst>
              <a:ext uri="{FF2B5EF4-FFF2-40B4-BE49-F238E27FC236}">
                <a16:creationId xmlns:a16="http://schemas.microsoft.com/office/drawing/2014/main" id="{3043B18A-2124-4DCA-F9DA-4FCC984F13D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2441" b="530"/>
          <a:stretch/>
        </p:blipFill>
        <p:spPr>
          <a:xfrm>
            <a:off x="3834327" y="1"/>
            <a:ext cx="4611441" cy="6858000"/>
          </a:xfrm>
          <a:prstGeom prst="rect">
            <a:avLst/>
          </a:prstGeom>
        </p:spPr>
      </p:pic>
      <p:pic>
        <p:nvPicPr>
          <p:cNvPr id="27" name="Graphique 26">
            <a:extLst>
              <a:ext uri="{FF2B5EF4-FFF2-40B4-BE49-F238E27FC236}">
                <a16:creationId xmlns:a16="http://schemas.microsoft.com/office/drawing/2014/main" id="{BCE24719-0023-397A-6A0C-8AFCC5D6FE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69467" y="6010942"/>
            <a:ext cx="1541159" cy="604609"/>
          </a:xfrm>
          <a:prstGeom prst="rect">
            <a:avLst/>
          </a:prstGeom>
        </p:spPr>
      </p:pic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EB779B1D-4AF3-B819-489B-B535852857EB}"/>
              </a:ext>
            </a:extLst>
          </p:cNvPr>
          <p:cNvCxnSpPr>
            <a:cxnSpLocks/>
          </p:cNvCxnSpPr>
          <p:nvPr/>
        </p:nvCxnSpPr>
        <p:spPr>
          <a:xfrm flipH="1">
            <a:off x="707094" y="4038343"/>
            <a:ext cx="10777811" cy="0"/>
          </a:xfrm>
          <a:prstGeom prst="straightConnector1">
            <a:avLst/>
          </a:prstGeom>
          <a:ln w="38100">
            <a:solidFill>
              <a:srgbClr val="23B2A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B5B0768C-1DE4-F5B5-510C-D9222A380744}"/>
              </a:ext>
            </a:extLst>
          </p:cNvPr>
          <p:cNvSpPr txBox="1"/>
          <p:nvPr/>
        </p:nvSpPr>
        <p:spPr>
          <a:xfrm>
            <a:off x="228016" y="2407403"/>
            <a:ext cx="2251313" cy="307777"/>
          </a:xfrm>
          <a:prstGeom prst="rect">
            <a:avLst/>
          </a:prstGeom>
          <a:solidFill>
            <a:schemeClr val="bg1"/>
          </a:solidFill>
          <a:ln w="12700">
            <a:solidFill>
              <a:srgbClr val="23B2A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1400" dirty="0">
                <a:latin typeface="Montserrat"/>
              </a:rPr>
              <a:t>Vendredi 20 décembre</a:t>
            </a:r>
            <a:endParaRPr lang="fr-FR" sz="1400" dirty="0">
              <a:latin typeface="Montserrat" panose="00000500000000000000" pitchFamily="2" charset="0"/>
            </a:endParaRP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CCF2B8F4-871B-6207-12F3-8742D4AFC87E}"/>
              </a:ext>
            </a:extLst>
          </p:cNvPr>
          <p:cNvCxnSpPr>
            <a:cxnSpLocks/>
          </p:cNvCxnSpPr>
          <p:nvPr/>
        </p:nvCxnSpPr>
        <p:spPr>
          <a:xfrm flipV="1">
            <a:off x="1295788" y="2715753"/>
            <a:ext cx="0" cy="115200"/>
          </a:xfrm>
          <a:prstGeom prst="line">
            <a:avLst/>
          </a:prstGeom>
          <a:ln w="38100">
            <a:solidFill>
              <a:srgbClr val="23B2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DC2448D0-7ADE-22CE-6E12-A784FAE02749}"/>
              </a:ext>
            </a:extLst>
          </p:cNvPr>
          <p:cNvCxnSpPr>
            <a:cxnSpLocks/>
          </p:cNvCxnSpPr>
          <p:nvPr/>
        </p:nvCxnSpPr>
        <p:spPr>
          <a:xfrm flipV="1">
            <a:off x="2285066" y="2811566"/>
            <a:ext cx="0" cy="94426"/>
          </a:xfrm>
          <a:prstGeom prst="line">
            <a:avLst/>
          </a:prstGeom>
          <a:ln w="38100">
            <a:solidFill>
              <a:srgbClr val="23B2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57F0333D-87A4-C42C-5C4D-C8BF1159AE18}"/>
              </a:ext>
            </a:extLst>
          </p:cNvPr>
          <p:cNvCxnSpPr>
            <a:cxnSpLocks/>
          </p:cNvCxnSpPr>
          <p:nvPr/>
        </p:nvCxnSpPr>
        <p:spPr>
          <a:xfrm>
            <a:off x="1276350" y="2805379"/>
            <a:ext cx="10226040" cy="21576"/>
          </a:xfrm>
          <a:prstGeom prst="line">
            <a:avLst/>
          </a:prstGeom>
          <a:ln w="38100">
            <a:solidFill>
              <a:srgbClr val="23B2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EB926D15-06C1-F50F-E946-2E583AF0F882}"/>
              </a:ext>
            </a:extLst>
          </p:cNvPr>
          <p:cNvCxnSpPr>
            <a:cxnSpLocks/>
          </p:cNvCxnSpPr>
          <p:nvPr/>
        </p:nvCxnSpPr>
        <p:spPr>
          <a:xfrm flipV="1">
            <a:off x="4675435" y="2710953"/>
            <a:ext cx="0" cy="94426"/>
          </a:xfrm>
          <a:prstGeom prst="line">
            <a:avLst/>
          </a:prstGeom>
          <a:ln w="38100">
            <a:solidFill>
              <a:srgbClr val="23B2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910D6B13-1449-45C3-11BC-4664BE4496A7}"/>
              </a:ext>
            </a:extLst>
          </p:cNvPr>
          <p:cNvCxnSpPr>
            <a:cxnSpLocks/>
            <a:stCxn id="62" idx="0"/>
          </p:cNvCxnSpPr>
          <p:nvPr/>
        </p:nvCxnSpPr>
        <p:spPr>
          <a:xfrm flipV="1">
            <a:off x="9563477" y="2816167"/>
            <a:ext cx="0" cy="92462"/>
          </a:xfrm>
          <a:prstGeom prst="line">
            <a:avLst/>
          </a:prstGeom>
          <a:ln w="38100">
            <a:solidFill>
              <a:srgbClr val="23B2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0DB99547-C1F6-A4E3-F54B-26148D320CA9}"/>
              </a:ext>
            </a:extLst>
          </p:cNvPr>
          <p:cNvCxnSpPr>
            <a:cxnSpLocks/>
          </p:cNvCxnSpPr>
          <p:nvPr/>
        </p:nvCxnSpPr>
        <p:spPr>
          <a:xfrm flipV="1">
            <a:off x="8256064" y="2710953"/>
            <a:ext cx="0" cy="94426"/>
          </a:xfrm>
          <a:prstGeom prst="line">
            <a:avLst/>
          </a:prstGeom>
          <a:ln w="38100">
            <a:solidFill>
              <a:srgbClr val="23B2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que 40" descr="Avertissement avec un remplissage uni">
            <a:extLst>
              <a:ext uri="{FF2B5EF4-FFF2-40B4-BE49-F238E27FC236}">
                <a16:creationId xmlns:a16="http://schemas.microsoft.com/office/drawing/2014/main" id="{3828BEDB-6E40-32C5-32DA-8FE7A71A5B2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87104" y="4946848"/>
            <a:ext cx="615553" cy="615553"/>
          </a:xfrm>
          <a:prstGeom prst="rect">
            <a:avLst/>
          </a:prstGeom>
        </p:spPr>
      </p:pic>
      <p:pic>
        <p:nvPicPr>
          <p:cNvPr id="42" name="Picture 2" descr="Go (programming language) - Wikipedia">
            <a:extLst>
              <a:ext uri="{FF2B5EF4-FFF2-40B4-BE49-F238E27FC236}">
                <a16:creationId xmlns:a16="http://schemas.microsoft.com/office/drawing/2014/main" id="{9E6CF6F4-76D8-CFB1-8CA3-7E2B92427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41517">
            <a:off x="531215" y="2801516"/>
            <a:ext cx="504000" cy="18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>
            <a:extLst>
              <a:ext uri="{FF2B5EF4-FFF2-40B4-BE49-F238E27FC236}">
                <a16:creationId xmlns:a16="http://schemas.microsoft.com/office/drawing/2014/main" id="{079596C0-B701-36DB-6982-D933167F2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19613">
            <a:off x="2862239" y="2468106"/>
            <a:ext cx="247456" cy="18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File - Free icons">
            <a:extLst>
              <a:ext uri="{FF2B5EF4-FFF2-40B4-BE49-F238E27FC236}">
                <a16:creationId xmlns:a16="http://schemas.microsoft.com/office/drawing/2014/main" id="{BEB56017-B653-5302-B2C6-56FDF3509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23772">
            <a:off x="6302084" y="2397954"/>
            <a:ext cx="294954" cy="294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0">
            <a:extLst>
              <a:ext uri="{FF2B5EF4-FFF2-40B4-BE49-F238E27FC236}">
                <a16:creationId xmlns:a16="http://schemas.microsoft.com/office/drawing/2014/main" id="{95656261-1983-849F-C7C1-B7A1185F8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81532">
            <a:off x="1362506" y="4181785"/>
            <a:ext cx="298824" cy="277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853CBB03-F8DD-30EF-BB42-5B917715C200}"/>
              </a:ext>
            </a:extLst>
          </p:cNvPr>
          <p:cNvSpPr/>
          <p:nvPr/>
        </p:nvSpPr>
        <p:spPr>
          <a:xfrm>
            <a:off x="520860" y="358815"/>
            <a:ext cx="7092919" cy="717631"/>
          </a:xfrm>
          <a:prstGeom prst="rect">
            <a:avLst/>
          </a:prstGeom>
          <a:solidFill>
            <a:srgbClr val="1D1D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i="1" kern="0">
                <a:solidFill>
                  <a:schemeClr val="bg1"/>
                </a:solidFill>
                <a:latin typeface="Montserrat"/>
              </a:rPr>
              <a:t>DÉROULEMENT DU MODULE</a:t>
            </a:r>
            <a:endParaRPr lang="fr-FR" sz="3200" b="1" i="1" kern="0">
              <a:solidFill>
                <a:schemeClr val="bg1"/>
              </a:solidFill>
            </a:endParaRPr>
          </a:p>
        </p:txBody>
      </p:sp>
      <p:sp>
        <p:nvSpPr>
          <p:cNvPr id="48" name="Parallélogramme 47">
            <a:extLst>
              <a:ext uri="{FF2B5EF4-FFF2-40B4-BE49-F238E27FC236}">
                <a16:creationId xmlns:a16="http://schemas.microsoft.com/office/drawing/2014/main" id="{C8512466-1CBD-2ECB-8722-456F7E8B9F74}"/>
              </a:ext>
            </a:extLst>
          </p:cNvPr>
          <p:cNvSpPr>
            <a:spLocks/>
          </p:cNvSpPr>
          <p:nvPr/>
        </p:nvSpPr>
        <p:spPr>
          <a:xfrm>
            <a:off x="2987104" y="1039026"/>
            <a:ext cx="4423353" cy="359153"/>
          </a:xfrm>
          <a:prstGeom prst="parallelogram">
            <a:avLst>
              <a:gd name="adj" fmla="val 39938"/>
            </a:avLst>
          </a:prstGeom>
          <a:solidFill>
            <a:srgbClr val="23B2A4"/>
          </a:solidFill>
          <a:ln w="38100">
            <a:solidFill>
              <a:srgbClr val="23B2A4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i="1" kern="0">
                <a:solidFill>
                  <a:schemeClr val="bg1"/>
                </a:solidFill>
                <a:latin typeface="Montserrat"/>
              </a:rPr>
              <a:t>PROJET GROUPIE TRACKER</a:t>
            </a:r>
            <a:endParaRPr lang="fr-FR" b="1" i="1" kern="0">
              <a:solidFill>
                <a:schemeClr val="bg1"/>
              </a:solidFill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BC463817-AC43-1D95-BC67-3CA577DD2068}"/>
              </a:ext>
            </a:extLst>
          </p:cNvPr>
          <p:cNvSpPr txBox="1"/>
          <p:nvPr/>
        </p:nvSpPr>
        <p:spPr>
          <a:xfrm>
            <a:off x="1199751" y="2912180"/>
            <a:ext cx="2170631" cy="307777"/>
          </a:xfrm>
          <a:prstGeom prst="rect">
            <a:avLst/>
          </a:prstGeom>
          <a:solidFill>
            <a:schemeClr val="bg1"/>
          </a:solidFill>
          <a:ln w="12700">
            <a:solidFill>
              <a:srgbClr val="23B2A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1400" dirty="0">
                <a:latin typeface="Montserrat"/>
              </a:rPr>
              <a:t>Vendredi 10 janvier</a:t>
            </a:r>
            <a:endParaRPr lang="fr-FR" dirty="0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D48C3CD1-67E3-1610-7D07-4DD9772F0C49}"/>
              </a:ext>
            </a:extLst>
          </p:cNvPr>
          <p:cNvSpPr txBox="1"/>
          <p:nvPr/>
        </p:nvSpPr>
        <p:spPr>
          <a:xfrm>
            <a:off x="3590120" y="2403176"/>
            <a:ext cx="2170631" cy="307777"/>
          </a:xfrm>
          <a:prstGeom prst="rect">
            <a:avLst/>
          </a:prstGeom>
          <a:solidFill>
            <a:schemeClr val="bg1"/>
          </a:solidFill>
          <a:ln w="12700">
            <a:solidFill>
              <a:srgbClr val="23B2A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1400" dirty="0">
                <a:latin typeface="Montserrat"/>
              </a:rPr>
              <a:t>Vendredi 17 janvier</a:t>
            </a:r>
          </a:p>
        </p:txBody>
      </p: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A8A03798-E301-5996-48F2-0F234EC55223}"/>
              </a:ext>
            </a:extLst>
          </p:cNvPr>
          <p:cNvCxnSpPr>
            <a:cxnSpLocks/>
          </p:cNvCxnSpPr>
          <p:nvPr/>
        </p:nvCxnSpPr>
        <p:spPr>
          <a:xfrm flipV="1">
            <a:off x="5511281" y="2826955"/>
            <a:ext cx="0" cy="94426"/>
          </a:xfrm>
          <a:prstGeom prst="line">
            <a:avLst/>
          </a:prstGeom>
          <a:ln w="38100">
            <a:solidFill>
              <a:srgbClr val="23B2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41A0866A-5A06-1DE1-7FD7-700296A367EF}"/>
              </a:ext>
            </a:extLst>
          </p:cNvPr>
          <p:cNvSpPr txBox="1"/>
          <p:nvPr/>
        </p:nvSpPr>
        <p:spPr>
          <a:xfrm>
            <a:off x="4441632" y="2912180"/>
            <a:ext cx="2170631" cy="307777"/>
          </a:xfrm>
          <a:prstGeom prst="rect">
            <a:avLst/>
          </a:prstGeom>
          <a:solidFill>
            <a:schemeClr val="bg1"/>
          </a:solidFill>
          <a:ln w="12700">
            <a:solidFill>
              <a:srgbClr val="23B2A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1400" dirty="0">
                <a:latin typeface="Montserrat"/>
              </a:rPr>
              <a:t>Jeudi 23 janvier</a:t>
            </a:r>
            <a:endParaRPr lang="fr-FR" sz="1400" dirty="0">
              <a:latin typeface="Montserrat" panose="00000500000000000000" pitchFamily="2" charset="0"/>
            </a:endParaRP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DDE6AD62-FDDE-A9BB-FDC2-BD930778B678}"/>
              </a:ext>
            </a:extLst>
          </p:cNvPr>
          <p:cNvSpPr txBox="1"/>
          <p:nvPr/>
        </p:nvSpPr>
        <p:spPr>
          <a:xfrm>
            <a:off x="7141045" y="2403176"/>
            <a:ext cx="2170631" cy="307777"/>
          </a:xfrm>
          <a:prstGeom prst="rect">
            <a:avLst/>
          </a:prstGeom>
          <a:solidFill>
            <a:schemeClr val="bg1"/>
          </a:solidFill>
          <a:ln w="12700">
            <a:solidFill>
              <a:srgbClr val="23B2A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1400" dirty="0">
                <a:latin typeface="Montserrat"/>
              </a:rPr>
              <a:t>Vendredi 24 janvier</a:t>
            </a:r>
            <a:endParaRPr lang="fr-FR" sz="1400" dirty="0">
              <a:latin typeface="Montserrat" panose="00000500000000000000" pitchFamily="2" charset="0"/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DB9313C1-6C89-8BB8-D450-655B8E7E51F5}"/>
              </a:ext>
            </a:extLst>
          </p:cNvPr>
          <p:cNvSpPr txBox="1"/>
          <p:nvPr/>
        </p:nvSpPr>
        <p:spPr>
          <a:xfrm>
            <a:off x="8478161" y="2908629"/>
            <a:ext cx="2170631" cy="307777"/>
          </a:xfrm>
          <a:prstGeom prst="rect">
            <a:avLst/>
          </a:prstGeom>
          <a:solidFill>
            <a:schemeClr val="bg1"/>
          </a:solidFill>
          <a:ln w="12700">
            <a:solidFill>
              <a:srgbClr val="23B2A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1400" dirty="0">
                <a:latin typeface="Montserrat"/>
              </a:rPr>
              <a:t>Jeudi 30 janvier</a:t>
            </a:r>
            <a:endParaRPr lang="fr-FR" sz="1400" dirty="0">
              <a:latin typeface="Montserrat" panose="00000500000000000000" pitchFamily="2" charset="0"/>
            </a:endParaRPr>
          </a:p>
        </p:txBody>
      </p:sp>
      <p:pic>
        <p:nvPicPr>
          <p:cNvPr id="63" name="Picture 2" descr="Go (programming language) - Wikipedia">
            <a:extLst>
              <a:ext uri="{FF2B5EF4-FFF2-40B4-BE49-F238E27FC236}">
                <a16:creationId xmlns:a16="http://schemas.microsoft.com/office/drawing/2014/main" id="{CFF9BF3E-0F6D-86AD-B1FF-B5D45EF00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41517">
            <a:off x="7254890" y="2970137"/>
            <a:ext cx="504000" cy="18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2" name="ZoneTexte 3071">
            <a:extLst>
              <a:ext uri="{FF2B5EF4-FFF2-40B4-BE49-F238E27FC236}">
                <a16:creationId xmlns:a16="http://schemas.microsoft.com/office/drawing/2014/main" id="{D9DDA1A1-DF7E-E7F4-BA8F-9F2116BCBE97}"/>
              </a:ext>
            </a:extLst>
          </p:cNvPr>
          <p:cNvSpPr txBox="1"/>
          <p:nvPr/>
        </p:nvSpPr>
        <p:spPr>
          <a:xfrm>
            <a:off x="3739632" y="4946849"/>
            <a:ext cx="4800827" cy="615553"/>
          </a:xfrm>
          <a:prstGeom prst="rect">
            <a:avLst/>
          </a:prstGeom>
          <a:solidFill>
            <a:schemeClr val="bg1"/>
          </a:solidFill>
          <a:ln w="12700">
            <a:solidFill>
              <a:srgbClr val="23B2A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1400" b="1" dirty="0">
                <a:solidFill>
                  <a:srgbClr val="23B2A4"/>
                </a:solidFill>
                <a:latin typeface="Montserrat"/>
              </a:rPr>
              <a:t>DERNIER COMMIT AUTORISÉ</a:t>
            </a:r>
            <a:br>
              <a:rPr lang="fr-FR" sz="2000" b="1" dirty="0">
                <a:latin typeface="Montserrat" panose="00000500000000000000" pitchFamily="2" charset="0"/>
              </a:rPr>
            </a:br>
            <a:r>
              <a:rPr lang="fr-FR" sz="2000" b="1" dirty="0">
                <a:latin typeface="Montserrat"/>
              </a:rPr>
              <a:t>JEUDI 20 FÉVRIER À 23h59</a:t>
            </a:r>
          </a:p>
        </p:txBody>
      </p:sp>
      <p:pic>
        <p:nvPicPr>
          <p:cNvPr id="3073" name="Graphique 3072" descr="Avertissement avec un remplissage uni">
            <a:extLst>
              <a:ext uri="{FF2B5EF4-FFF2-40B4-BE49-F238E27FC236}">
                <a16:creationId xmlns:a16="http://schemas.microsoft.com/office/drawing/2014/main" id="{5D4A0846-C8B3-3413-3DF3-7851EA0A4D1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77107" y="4907194"/>
            <a:ext cx="615553" cy="615553"/>
          </a:xfrm>
          <a:prstGeom prst="rect">
            <a:avLst/>
          </a:prstGeom>
        </p:spPr>
      </p:pic>
      <p:pic>
        <p:nvPicPr>
          <p:cNvPr id="3075" name="Picture 6" descr="Guitare avec un remplissage uni">
            <a:extLst>
              <a:ext uri="{FF2B5EF4-FFF2-40B4-BE49-F238E27FC236}">
                <a16:creationId xmlns:a16="http://schemas.microsoft.com/office/drawing/2014/main" id="{9C683E96-0AB5-D5B7-6183-D8C0D57FC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 rot="221432">
            <a:off x="3531312" y="2864218"/>
            <a:ext cx="610576" cy="61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77" name="Connecteur droit 3076">
            <a:extLst>
              <a:ext uri="{FF2B5EF4-FFF2-40B4-BE49-F238E27FC236}">
                <a16:creationId xmlns:a16="http://schemas.microsoft.com/office/drawing/2014/main" id="{B1EA661C-7B52-4290-A8FF-C6F8888D6319}"/>
              </a:ext>
            </a:extLst>
          </p:cNvPr>
          <p:cNvCxnSpPr>
            <a:cxnSpLocks/>
          </p:cNvCxnSpPr>
          <p:nvPr/>
        </p:nvCxnSpPr>
        <p:spPr>
          <a:xfrm flipV="1">
            <a:off x="11484905" y="2826955"/>
            <a:ext cx="0" cy="1232600"/>
          </a:xfrm>
          <a:prstGeom prst="line">
            <a:avLst/>
          </a:prstGeom>
          <a:ln w="38100">
            <a:solidFill>
              <a:srgbClr val="23B2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8" name="ZoneTexte 3077">
            <a:extLst>
              <a:ext uri="{FF2B5EF4-FFF2-40B4-BE49-F238E27FC236}">
                <a16:creationId xmlns:a16="http://schemas.microsoft.com/office/drawing/2014/main" id="{607B950F-CA50-C2A5-4ABB-82CCC85C1B4B}"/>
              </a:ext>
            </a:extLst>
          </p:cNvPr>
          <p:cNvSpPr txBox="1"/>
          <p:nvPr/>
        </p:nvSpPr>
        <p:spPr>
          <a:xfrm>
            <a:off x="8997487" y="4155098"/>
            <a:ext cx="2170631" cy="307777"/>
          </a:xfrm>
          <a:prstGeom prst="rect">
            <a:avLst/>
          </a:prstGeom>
          <a:solidFill>
            <a:schemeClr val="bg1"/>
          </a:solidFill>
          <a:ln w="12700">
            <a:solidFill>
              <a:srgbClr val="23B2A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1400" dirty="0">
                <a:latin typeface="Montserrat"/>
              </a:rPr>
              <a:t>Vendredi 31 janvier</a:t>
            </a:r>
            <a:endParaRPr lang="fr-FR" dirty="0"/>
          </a:p>
        </p:txBody>
      </p:sp>
      <p:cxnSp>
        <p:nvCxnSpPr>
          <p:cNvPr id="3079" name="Connecteur droit 3078">
            <a:extLst>
              <a:ext uri="{FF2B5EF4-FFF2-40B4-BE49-F238E27FC236}">
                <a16:creationId xmlns:a16="http://schemas.microsoft.com/office/drawing/2014/main" id="{90840168-1808-CD75-63B3-57B5577BC777}"/>
              </a:ext>
            </a:extLst>
          </p:cNvPr>
          <p:cNvCxnSpPr>
            <a:cxnSpLocks/>
          </p:cNvCxnSpPr>
          <p:nvPr/>
        </p:nvCxnSpPr>
        <p:spPr>
          <a:xfrm flipV="1">
            <a:off x="10082803" y="4038343"/>
            <a:ext cx="0" cy="120272"/>
          </a:xfrm>
          <a:prstGeom prst="line">
            <a:avLst/>
          </a:prstGeom>
          <a:ln w="38100">
            <a:solidFill>
              <a:srgbClr val="23B2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1" name="ZoneTexte 3080">
            <a:extLst>
              <a:ext uri="{FF2B5EF4-FFF2-40B4-BE49-F238E27FC236}">
                <a16:creationId xmlns:a16="http://schemas.microsoft.com/office/drawing/2014/main" id="{D2C4668F-C9F4-12E4-D002-1DED350DB1E8}"/>
              </a:ext>
            </a:extLst>
          </p:cNvPr>
          <p:cNvSpPr txBox="1"/>
          <p:nvPr/>
        </p:nvSpPr>
        <p:spPr>
          <a:xfrm>
            <a:off x="5843817" y="4158615"/>
            <a:ext cx="2170631" cy="307777"/>
          </a:xfrm>
          <a:prstGeom prst="rect">
            <a:avLst/>
          </a:prstGeom>
          <a:solidFill>
            <a:schemeClr val="bg1"/>
          </a:solidFill>
          <a:ln w="12700">
            <a:solidFill>
              <a:srgbClr val="23B2A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1400" dirty="0">
                <a:latin typeface="Montserrat"/>
              </a:rPr>
              <a:t>Jeudi 20 février</a:t>
            </a:r>
            <a:endParaRPr lang="fr-FR" dirty="0"/>
          </a:p>
        </p:txBody>
      </p:sp>
      <p:sp>
        <p:nvSpPr>
          <p:cNvPr id="3083" name="ZoneTexte 3082">
            <a:extLst>
              <a:ext uri="{FF2B5EF4-FFF2-40B4-BE49-F238E27FC236}">
                <a16:creationId xmlns:a16="http://schemas.microsoft.com/office/drawing/2014/main" id="{C72AD4C4-DF81-DC7F-5017-5BD89BCC5AEC}"/>
              </a:ext>
            </a:extLst>
          </p:cNvPr>
          <p:cNvSpPr txBox="1"/>
          <p:nvPr/>
        </p:nvSpPr>
        <p:spPr>
          <a:xfrm>
            <a:off x="2649305" y="4150118"/>
            <a:ext cx="2170631" cy="307777"/>
          </a:xfrm>
          <a:prstGeom prst="rect">
            <a:avLst/>
          </a:prstGeom>
          <a:solidFill>
            <a:schemeClr val="bg1"/>
          </a:solidFill>
          <a:ln w="12700">
            <a:solidFill>
              <a:srgbClr val="23B2A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1400" dirty="0">
                <a:latin typeface="Montserrat"/>
              </a:rPr>
              <a:t>Vendredi 21 février</a:t>
            </a:r>
            <a:endParaRPr lang="fr-FR" sz="1400" dirty="0">
              <a:latin typeface="Montserrat" panose="00000500000000000000" pitchFamily="2" charset="0"/>
            </a:endParaRPr>
          </a:p>
        </p:txBody>
      </p:sp>
      <p:cxnSp>
        <p:nvCxnSpPr>
          <p:cNvPr id="3084" name="Connecteur droit 3083">
            <a:extLst>
              <a:ext uri="{FF2B5EF4-FFF2-40B4-BE49-F238E27FC236}">
                <a16:creationId xmlns:a16="http://schemas.microsoft.com/office/drawing/2014/main" id="{D1CC1345-90D1-E318-911E-3B5BE15340B1}"/>
              </a:ext>
            </a:extLst>
          </p:cNvPr>
          <p:cNvCxnSpPr>
            <a:cxnSpLocks/>
          </p:cNvCxnSpPr>
          <p:nvPr/>
        </p:nvCxnSpPr>
        <p:spPr>
          <a:xfrm flipV="1">
            <a:off x="6911546" y="4038343"/>
            <a:ext cx="0" cy="120272"/>
          </a:xfrm>
          <a:prstGeom prst="line">
            <a:avLst/>
          </a:prstGeom>
          <a:ln w="38100">
            <a:solidFill>
              <a:srgbClr val="23B2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5" name="Connecteur droit 3084">
            <a:extLst>
              <a:ext uri="{FF2B5EF4-FFF2-40B4-BE49-F238E27FC236}">
                <a16:creationId xmlns:a16="http://schemas.microsoft.com/office/drawing/2014/main" id="{E3707A18-5E78-3F39-EDBD-B31F63F4CBEE}"/>
              </a:ext>
            </a:extLst>
          </p:cNvPr>
          <p:cNvCxnSpPr>
            <a:cxnSpLocks/>
          </p:cNvCxnSpPr>
          <p:nvPr/>
        </p:nvCxnSpPr>
        <p:spPr>
          <a:xfrm flipV="1">
            <a:off x="3696608" y="4038343"/>
            <a:ext cx="0" cy="120272"/>
          </a:xfrm>
          <a:prstGeom prst="line">
            <a:avLst/>
          </a:prstGeom>
          <a:ln w="38100">
            <a:solidFill>
              <a:srgbClr val="23B2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6" name="Parallélogramme 3085">
            <a:extLst>
              <a:ext uri="{FF2B5EF4-FFF2-40B4-BE49-F238E27FC236}">
                <a16:creationId xmlns:a16="http://schemas.microsoft.com/office/drawing/2014/main" id="{03159C38-F229-0E61-5CD2-2502889D2870}"/>
              </a:ext>
            </a:extLst>
          </p:cNvPr>
          <p:cNvSpPr>
            <a:spLocks/>
          </p:cNvSpPr>
          <p:nvPr/>
        </p:nvSpPr>
        <p:spPr>
          <a:xfrm>
            <a:off x="10501171" y="4449122"/>
            <a:ext cx="699169" cy="161340"/>
          </a:xfrm>
          <a:prstGeom prst="parallelogram">
            <a:avLst>
              <a:gd name="adj" fmla="val 39938"/>
            </a:avLst>
          </a:prstGeom>
          <a:solidFill>
            <a:srgbClr val="23B2A4"/>
          </a:solidFill>
          <a:ln w="38100">
            <a:solidFill>
              <a:srgbClr val="23B2A4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000" b="1" i="1" kern="0">
                <a:solidFill>
                  <a:schemeClr val="bg1"/>
                </a:solidFill>
                <a:latin typeface="Montserrat"/>
              </a:rPr>
              <a:t>QCM</a:t>
            </a:r>
            <a:endParaRPr lang="fr-FR" sz="1000" b="1" i="1" kern="0" dirty="0">
              <a:solidFill>
                <a:schemeClr val="bg1"/>
              </a:solidFill>
            </a:endParaRPr>
          </a:p>
        </p:txBody>
      </p:sp>
      <p:pic>
        <p:nvPicPr>
          <p:cNvPr id="3087" name="Picture 2" descr="Go (programming language) - Wikipedia">
            <a:extLst>
              <a:ext uri="{FF2B5EF4-FFF2-40B4-BE49-F238E27FC236}">
                <a16:creationId xmlns:a16="http://schemas.microsoft.com/office/drawing/2014/main" id="{730F1CA5-383E-CF57-29CB-6C18CD831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41517">
            <a:off x="5060463" y="4215485"/>
            <a:ext cx="504000" cy="18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6" descr="Guitare avec un remplissage uni">
            <a:extLst>
              <a:ext uri="{FF2B5EF4-FFF2-40B4-BE49-F238E27FC236}">
                <a16:creationId xmlns:a16="http://schemas.microsoft.com/office/drawing/2014/main" id="{CB213E43-D4C7-5F05-9BC0-E4C2C5FAD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 rot="221432">
            <a:off x="11317335" y="3877528"/>
            <a:ext cx="610576" cy="61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9" name="Parallélogramme 3088">
            <a:extLst>
              <a:ext uri="{FF2B5EF4-FFF2-40B4-BE49-F238E27FC236}">
                <a16:creationId xmlns:a16="http://schemas.microsoft.com/office/drawing/2014/main" id="{D4DB679B-79F0-4045-230F-E40854B93DDA}"/>
              </a:ext>
            </a:extLst>
          </p:cNvPr>
          <p:cNvSpPr>
            <a:spLocks/>
          </p:cNvSpPr>
          <p:nvPr/>
        </p:nvSpPr>
        <p:spPr>
          <a:xfrm>
            <a:off x="3335920" y="4446628"/>
            <a:ext cx="1549115" cy="161340"/>
          </a:xfrm>
          <a:prstGeom prst="parallelogram">
            <a:avLst>
              <a:gd name="adj" fmla="val 39938"/>
            </a:avLst>
          </a:prstGeom>
          <a:solidFill>
            <a:srgbClr val="23B2A4"/>
          </a:solidFill>
          <a:ln w="38100">
            <a:solidFill>
              <a:srgbClr val="23B2A4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000" b="1" i="1" kern="0" dirty="0">
                <a:solidFill>
                  <a:schemeClr val="bg1"/>
                </a:solidFill>
                <a:latin typeface="Montserrat"/>
              </a:rPr>
              <a:t>SOUTENANCES</a:t>
            </a:r>
            <a:endParaRPr lang="fr-FR" sz="1000" b="1" i="1" kern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503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que 12">
            <a:extLst>
              <a:ext uri="{FF2B5EF4-FFF2-40B4-BE49-F238E27FC236}">
                <a16:creationId xmlns:a16="http://schemas.microsoft.com/office/drawing/2014/main" id="{9775B356-60A8-AC74-8B37-D21521A8C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6818" y="1403008"/>
            <a:ext cx="2165182" cy="4051983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EED80411-753F-CD99-E59B-D1FB736273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8873"/>
          <a:stretch/>
        </p:blipFill>
        <p:spPr>
          <a:xfrm>
            <a:off x="12561" y="1643026"/>
            <a:ext cx="2252592" cy="3571945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A85F8DFC-1699-FCC8-D764-DCDADD588D8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2441" b="530"/>
          <a:stretch/>
        </p:blipFill>
        <p:spPr>
          <a:xfrm>
            <a:off x="3834327" y="1"/>
            <a:ext cx="4611441" cy="6858000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3160CACF-D1E9-5AF8-0F59-F173772E4D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69467" y="6010942"/>
            <a:ext cx="1541159" cy="60460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9EBB0B-D2E4-D339-3E5D-D3F2D1721BA0}"/>
              </a:ext>
            </a:extLst>
          </p:cNvPr>
          <p:cNvSpPr/>
          <p:nvPr/>
        </p:nvSpPr>
        <p:spPr>
          <a:xfrm>
            <a:off x="1968609" y="3295630"/>
            <a:ext cx="2298819" cy="771258"/>
          </a:xfrm>
          <a:prstGeom prst="rect">
            <a:avLst/>
          </a:prstGeom>
          <a:solidFill>
            <a:schemeClr val="bg1"/>
          </a:solidFill>
          <a:ln w="19050">
            <a:solidFill>
              <a:srgbClr val="23B2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151F91-AF3E-449C-1FC5-129A0135075E}"/>
              </a:ext>
            </a:extLst>
          </p:cNvPr>
          <p:cNvSpPr/>
          <p:nvPr/>
        </p:nvSpPr>
        <p:spPr>
          <a:xfrm>
            <a:off x="8013703" y="3295631"/>
            <a:ext cx="2298819" cy="771258"/>
          </a:xfrm>
          <a:prstGeom prst="rect">
            <a:avLst/>
          </a:prstGeom>
          <a:solidFill>
            <a:schemeClr val="bg1"/>
          </a:solidFill>
          <a:ln w="19050">
            <a:solidFill>
              <a:srgbClr val="23B2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4711D0-338B-DF3E-A174-D25F05566275}"/>
              </a:ext>
            </a:extLst>
          </p:cNvPr>
          <p:cNvSpPr/>
          <p:nvPr/>
        </p:nvSpPr>
        <p:spPr>
          <a:xfrm>
            <a:off x="1968609" y="2824187"/>
            <a:ext cx="2298819" cy="471443"/>
          </a:xfrm>
          <a:prstGeom prst="rect">
            <a:avLst/>
          </a:prstGeom>
          <a:solidFill>
            <a:srgbClr val="23B2A4"/>
          </a:solidFill>
          <a:ln w="19050">
            <a:solidFill>
              <a:srgbClr val="23B2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atin typeface="Montserrat" panose="00000500000000000000" pitchFamily="2" charset="0"/>
              </a:rPr>
              <a:t>PROJET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997512-2B91-36BE-3F4E-503B02EBED19}"/>
              </a:ext>
            </a:extLst>
          </p:cNvPr>
          <p:cNvSpPr/>
          <p:nvPr/>
        </p:nvSpPr>
        <p:spPr>
          <a:xfrm>
            <a:off x="8013702" y="2824187"/>
            <a:ext cx="2298819" cy="471443"/>
          </a:xfrm>
          <a:prstGeom prst="rect">
            <a:avLst/>
          </a:prstGeom>
          <a:solidFill>
            <a:srgbClr val="23B2A4"/>
          </a:solidFill>
          <a:ln w="19050">
            <a:solidFill>
              <a:srgbClr val="23B2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atin typeface="Montserrat" panose="00000500000000000000" pitchFamily="2" charset="0"/>
              </a:rPr>
              <a:t>QCM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34B5D58-50F1-3592-5244-ABAD9CD05EBC}"/>
              </a:ext>
            </a:extLst>
          </p:cNvPr>
          <p:cNvSpPr txBox="1"/>
          <p:nvPr/>
        </p:nvSpPr>
        <p:spPr>
          <a:xfrm>
            <a:off x="1968609" y="3467093"/>
            <a:ext cx="2298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Montserrat" panose="00000500000000000000" pitchFamily="2" charset="0"/>
              </a:rPr>
              <a:t>Coefficient 2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F89C8F1-FCBA-E98E-6B33-2EE2F258329F}"/>
              </a:ext>
            </a:extLst>
          </p:cNvPr>
          <p:cNvSpPr txBox="1"/>
          <p:nvPr/>
        </p:nvSpPr>
        <p:spPr>
          <a:xfrm>
            <a:off x="8013702" y="3467094"/>
            <a:ext cx="2298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Montserrat" panose="00000500000000000000" pitchFamily="2" charset="0"/>
              </a:rPr>
              <a:t>Coefficient 1</a:t>
            </a: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E72E7FF4-2C5F-7435-A161-9FE958E316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56044" y="4238351"/>
            <a:ext cx="1123947" cy="223837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4098" name="Picture 2" descr="Create interactive presentations with Wooclap">
            <a:extLst>
              <a:ext uri="{FF2B5EF4-FFF2-40B4-BE49-F238E27FC236}">
                <a16:creationId xmlns:a16="http://schemas.microsoft.com/office/drawing/2014/main" id="{E9ECCBDE-B91A-CD87-B533-12CA0313D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768" y="4140878"/>
            <a:ext cx="1434687" cy="321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7E3D717-FEC5-376E-9B1D-AE1CD3DCFB01}"/>
              </a:ext>
            </a:extLst>
          </p:cNvPr>
          <p:cNvSpPr/>
          <p:nvPr/>
        </p:nvSpPr>
        <p:spPr>
          <a:xfrm>
            <a:off x="520860" y="358815"/>
            <a:ext cx="7092919" cy="717631"/>
          </a:xfrm>
          <a:prstGeom prst="rect">
            <a:avLst/>
          </a:prstGeom>
          <a:solidFill>
            <a:srgbClr val="1D1D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i="1" kern="0" dirty="0">
                <a:solidFill>
                  <a:schemeClr val="bg1"/>
                </a:solidFill>
                <a:latin typeface="Montserrat"/>
              </a:rPr>
              <a:t>MODALITÉS D’ÉVALUATION</a:t>
            </a:r>
            <a:endParaRPr lang="fr-FR" sz="3200" b="1" i="1" kern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8F18DE-9809-F267-4858-BE7A7A7720CE}"/>
              </a:ext>
            </a:extLst>
          </p:cNvPr>
          <p:cNvSpPr/>
          <p:nvPr/>
        </p:nvSpPr>
        <p:spPr>
          <a:xfrm>
            <a:off x="4980052" y="3295630"/>
            <a:ext cx="2298819" cy="771258"/>
          </a:xfrm>
          <a:prstGeom prst="rect">
            <a:avLst/>
          </a:prstGeom>
          <a:solidFill>
            <a:schemeClr val="bg1"/>
          </a:solidFill>
          <a:ln w="19050">
            <a:solidFill>
              <a:srgbClr val="23B2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194EAA-D953-DEAD-8B2B-FB0CC5653BB6}"/>
              </a:ext>
            </a:extLst>
          </p:cNvPr>
          <p:cNvSpPr/>
          <p:nvPr/>
        </p:nvSpPr>
        <p:spPr>
          <a:xfrm>
            <a:off x="4980052" y="2824187"/>
            <a:ext cx="2298819" cy="471443"/>
          </a:xfrm>
          <a:prstGeom prst="rect">
            <a:avLst/>
          </a:prstGeom>
          <a:solidFill>
            <a:srgbClr val="23B2A4"/>
          </a:solidFill>
          <a:ln w="19050">
            <a:solidFill>
              <a:srgbClr val="23B2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atin typeface="Montserrat" panose="00000500000000000000" pitchFamily="2" charset="0"/>
              </a:rPr>
              <a:t>SOUTENANCE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F4E1ABE-79AE-A043-46ED-038324386878}"/>
              </a:ext>
            </a:extLst>
          </p:cNvPr>
          <p:cNvSpPr txBox="1"/>
          <p:nvPr/>
        </p:nvSpPr>
        <p:spPr>
          <a:xfrm>
            <a:off x="4980052" y="3467093"/>
            <a:ext cx="2298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Montserrat" panose="00000500000000000000" pitchFamily="2" charset="0"/>
              </a:rPr>
              <a:t>Coefficient 2</a:t>
            </a:r>
          </a:p>
        </p:txBody>
      </p:sp>
      <p:pic>
        <p:nvPicPr>
          <p:cNvPr id="22" name="Graphique 21" descr="Enseignant avec un remplissage uni">
            <a:extLst>
              <a:ext uri="{FF2B5EF4-FFF2-40B4-BE49-F238E27FC236}">
                <a16:creationId xmlns:a16="http://schemas.microsoft.com/office/drawing/2014/main" id="{EF901D21-5960-7FA5-4C87-AF2064EE7C6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36602" y="4057910"/>
            <a:ext cx="584718" cy="584718"/>
          </a:xfrm>
          <a:prstGeom prst="rect">
            <a:avLst/>
          </a:prstGeom>
        </p:spPr>
      </p:pic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3D703BC9-0D99-8F31-D297-69597CBA196E}"/>
              </a:ext>
            </a:extLst>
          </p:cNvPr>
          <p:cNvSpPr>
            <a:spLocks/>
          </p:cNvSpPr>
          <p:nvPr/>
        </p:nvSpPr>
        <p:spPr>
          <a:xfrm>
            <a:off x="2987104" y="1039026"/>
            <a:ext cx="4423353" cy="359153"/>
          </a:xfrm>
          <a:prstGeom prst="parallelogram">
            <a:avLst>
              <a:gd name="adj" fmla="val 39938"/>
            </a:avLst>
          </a:prstGeom>
          <a:solidFill>
            <a:srgbClr val="23B2A4"/>
          </a:solidFill>
          <a:ln w="38100">
            <a:solidFill>
              <a:srgbClr val="23B2A4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i="1" kern="0" dirty="0">
                <a:solidFill>
                  <a:schemeClr val="bg1"/>
                </a:solidFill>
                <a:latin typeface="Montserrat"/>
              </a:rPr>
              <a:t>PROJET GROUPIE TRACKER</a:t>
            </a:r>
            <a:endParaRPr lang="fr-FR" b="1" i="1" kern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357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B118E44A-554C-401B-3899-6EB280868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6818" y="1403008"/>
            <a:ext cx="2165182" cy="4051983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8F66E512-67A1-E9DC-02D1-1FF31FB053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8873"/>
          <a:stretch/>
        </p:blipFill>
        <p:spPr>
          <a:xfrm>
            <a:off x="685" y="1643025"/>
            <a:ext cx="2252592" cy="3571945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231DA0E1-0B22-A03B-D729-BE69B995348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2441" b="530"/>
          <a:stretch/>
        </p:blipFill>
        <p:spPr>
          <a:xfrm>
            <a:off x="3834327" y="1"/>
            <a:ext cx="4611441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1D95224-96E3-3124-490E-2A451AB36A9C}"/>
              </a:ext>
            </a:extLst>
          </p:cNvPr>
          <p:cNvSpPr/>
          <p:nvPr/>
        </p:nvSpPr>
        <p:spPr>
          <a:xfrm>
            <a:off x="4002833" y="2711367"/>
            <a:ext cx="4274428" cy="717631"/>
          </a:xfrm>
          <a:prstGeom prst="rect">
            <a:avLst/>
          </a:prstGeom>
          <a:solidFill>
            <a:srgbClr val="1D1D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i="1" kern="0" dirty="0">
                <a:solidFill>
                  <a:schemeClr val="bg1"/>
                </a:solidFill>
                <a:latin typeface="Montserrat"/>
              </a:rPr>
              <a:t>BONNE CHANCE !</a:t>
            </a:r>
            <a:endParaRPr lang="fr-FR" sz="3200" b="1" i="1" kern="0" dirty="0">
              <a:solidFill>
                <a:schemeClr val="bg1"/>
              </a:solidFill>
            </a:endParaRPr>
          </a:p>
        </p:txBody>
      </p:sp>
      <p:sp>
        <p:nvSpPr>
          <p:cNvPr id="9" name="Parallélogramme 8">
            <a:extLst>
              <a:ext uri="{FF2B5EF4-FFF2-40B4-BE49-F238E27FC236}">
                <a16:creationId xmlns:a16="http://schemas.microsoft.com/office/drawing/2014/main" id="{68189594-61EA-0315-0A0A-28A683F67E96}"/>
              </a:ext>
            </a:extLst>
          </p:cNvPr>
          <p:cNvSpPr>
            <a:spLocks/>
          </p:cNvSpPr>
          <p:nvPr/>
        </p:nvSpPr>
        <p:spPr>
          <a:xfrm>
            <a:off x="3688897" y="3428998"/>
            <a:ext cx="4814206" cy="359153"/>
          </a:xfrm>
          <a:prstGeom prst="parallelogram">
            <a:avLst>
              <a:gd name="adj" fmla="val 39938"/>
            </a:avLst>
          </a:prstGeom>
          <a:solidFill>
            <a:srgbClr val="23B2A4"/>
          </a:solidFill>
          <a:ln w="38100">
            <a:solidFill>
              <a:srgbClr val="23B2A4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i="1" kern="0">
                <a:solidFill>
                  <a:schemeClr val="bg1"/>
                </a:solidFill>
                <a:latin typeface="Montserrat"/>
              </a:rPr>
              <a:t>AVEZ-VOUS DES QUESTIONS ?</a:t>
            </a:r>
            <a:endParaRPr lang="fr-FR" b="1" i="1" kern="0">
              <a:solidFill>
                <a:schemeClr val="bg1"/>
              </a:solidFill>
            </a:endParaRP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16FB992F-889A-147B-17E4-B3D554616A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69467" y="6010942"/>
            <a:ext cx="1541159" cy="60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9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c841d9-878d-400c-bac0-4e58b9c15a46">
      <Terms xmlns="http://schemas.microsoft.com/office/infopath/2007/PartnerControls"/>
    </lcf76f155ced4ddcb4097134ff3c332f>
    <TaxCatchAll xmlns="d068e648-32f8-481f-a8f5-3ea019f54b7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C6A415062AD84095B875A0E511DBA8" ma:contentTypeVersion="15" ma:contentTypeDescription="Crée un document." ma:contentTypeScope="" ma:versionID="3bbac18b927b6fc8d77a8e21f5748844">
  <xsd:schema xmlns:xsd="http://www.w3.org/2001/XMLSchema" xmlns:xs="http://www.w3.org/2001/XMLSchema" xmlns:p="http://schemas.microsoft.com/office/2006/metadata/properties" xmlns:ns2="f2c841d9-878d-400c-bac0-4e58b9c15a46" xmlns:ns3="d068e648-32f8-481f-a8f5-3ea019f54b7d" targetNamespace="http://schemas.microsoft.com/office/2006/metadata/properties" ma:root="true" ma:fieldsID="9993d4278f8562c5d955f8d9ed134f8b" ns2:_="" ns3:_="">
    <xsd:import namespace="f2c841d9-878d-400c-bac0-4e58b9c15a46"/>
    <xsd:import namespace="d068e648-32f8-481f-a8f5-3ea019f54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c841d9-878d-400c-bac0-4e58b9c15a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2e1edae-0774-4b0d-9711-b3283f3197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68e648-32f8-481f-a8f5-3ea019f54b7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c26530a-08a8-46d7-894e-e7e00c862040}" ma:internalName="TaxCatchAll" ma:showField="CatchAllData" ma:web="d068e648-32f8-481f-a8f5-3ea019f54b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92AF21-F6B8-4E83-9529-81DB9CE33A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46A566-7CC5-4166-95F6-C69DD30C4C3E}">
  <ds:schemaRefs>
    <ds:schemaRef ds:uri="f37a14aa-e9ec-48bf-a43e-a674d4472f07"/>
    <ds:schemaRef ds:uri="http://schemas.microsoft.com/office/2006/metadata/properties"/>
    <ds:schemaRef ds:uri="http://purl.org/dc/dcmitype/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f5b02508-6896-4cc7-86c7-eebd02538cbe"/>
    <ds:schemaRef ds:uri="http://purl.org/dc/elements/1.1/"/>
    <ds:schemaRef ds:uri="f2c841d9-878d-400c-bac0-4e58b9c15a46"/>
    <ds:schemaRef ds:uri="d068e648-32f8-481f-a8f5-3ea019f54b7d"/>
  </ds:schemaRefs>
</ds:datastoreItem>
</file>

<file path=customXml/itemProps3.xml><?xml version="1.0" encoding="utf-8"?>
<ds:datastoreItem xmlns:ds="http://schemas.openxmlformats.org/officeDocument/2006/customXml" ds:itemID="{9D738A00-0945-4157-BC41-3885DD15FD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c841d9-878d-400c-bac0-4e58b9c15a46"/>
    <ds:schemaRef ds:uri="d068e648-32f8-481f-a8f5-3ea019f54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424</Words>
  <Application>Microsoft Office PowerPoint</Application>
  <PresentationFormat>Grand écran</PresentationFormat>
  <Paragraphs>125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Maxime Mourgues</dc:creator>
  <cp:lastModifiedBy>GARCIA Luka</cp:lastModifiedBy>
  <cp:revision>70</cp:revision>
  <dcterms:created xsi:type="dcterms:W3CDTF">2022-10-11T16:32:48Z</dcterms:created>
  <dcterms:modified xsi:type="dcterms:W3CDTF">2025-11-19T10:21:45Z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0x01010096C6A415062AD84095B875A0E511DBA8</vt:lpwstr>
  </property>
  <property fmtid="{D5CDD505-2E9C-101B-9397-08002B2CF9AE}" pid="3" name="MediaServiceImageTags">
    <vt:lpwstr/>
  </property>
</Properties>
</file>